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logger Bold" charset="1" panose="02000506030000020004"/>
      <p:regular r:id="rId21"/>
    </p:embeddedFont>
    <p:embeddedFont>
      <p:font typeface="Old Standard" charset="1" panose="02040503050505020303"/>
      <p:regular r:id="rId22"/>
    </p:embeddedFont>
    <p:embeddedFont>
      <p:font typeface="Canva Sans" charset="1" panose="020B0503030501040103"/>
      <p:regular r:id="rId23"/>
    </p:embeddedFont>
    <p:embeddedFont>
      <p:font typeface="Canva Sans Bold" charset="1" panose="020B0803030501040103"/>
      <p:regular r:id="rId24"/>
    </p:embeddedFont>
    <p:embeddedFont>
      <p:font typeface="Old Standard Bold" charset="1" panose="020405030505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2760" y="3596764"/>
            <a:ext cx="14755419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0"/>
              </a:lnSpc>
            </a:pPr>
            <a:r>
              <a:rPr lang="en-US" b="true" sz="1500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PROJECT</a:t>
            </a:r>
          </a:p>
          <a:p>
            <a:pPr algn="ctr">
              <a:lnSpc>
                <a:spcPts val="13050"/>
              </a:lnSpc>
            </a:pPr>
            <a:r>
              <a:rPr lang="en-US" b="true" sz="1500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PRESENTATION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837152" y="5143500"/>
            <a:ext cx="6844296" cy="12935956"/>
          </a:xfrm>
          <a:custGeom>
            <a:avLst/>
            <a:gdLst/>
            <a:ahLst/>
            <a:cxnLst/>
            <a:rect r="r" b="b" t="t" l="l"/>
            <a:pathLst>
              <a:path h="12935956" w="6844296">
                <a:moveTo>
                  <a:pt x="0" y="0"/>
                </a:moveTo>
                <a:lnTo>
                  <a:pt x="6844296" y="0"/>
                </a:lnTo>
                <a:lnTo>
                  <a:pt x="6844296" y="12935956"/>
                </a:lnTo>
                <a:lnTo>
                  <a:pt x="0" y="12935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98431" y="4836547"/>
            <a:ext cx="5827339" cy="6384535"/>
          </a:xfrm>
          <a:custGeom>
            <a:avLst/>
            <a:gdLst/>
            <a:ahLst/>
            <a:cxnLst/>
            <a:rect r="r" b="b" t="t" l="l"/>
            <a:pathLst>
              <a:path h="6384535" w="5827339">
                <a:moveTo>
                  <a:pt x="0" y="0"/>
                </a:moveTo>
                <a:lnTo>
                  <a:pt x="5827339" y="0"/>
                </a:lnTo>
                <a:lnTo>
                  <a:pt x="5827339" y="6384535"/>
                </a:lnTo>
                <a:lnTo>
                  <a:pt x="0" y="63845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837152" y="-20574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7" y="0"/>
                </a:lnTo>
                <a:lnTo>
                  <a:pt x="2611027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628900" y="230678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30473" y="3157251"/>
            <a:ext cx="12612193" cy="393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b="true" sz="11208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CONSOLE BASED SYSTEM FOR </a:t>
            </a:r>
          </a:p>
          <a:p>
            <a:pPr algn="ctr">
              <a:lnSpc>
                <a:spcPts val="9751"/>
              </a:lnSpc>
            </a:pPr>
            <a:r>
              <a:rPr lang="en-US" b="true" sz="11208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NSSI SOCIETY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837152" y="5143500"/>
            <a:ext cx="6844296" cy="12935956"/>
          </a:xfrm>
          <a:custGeom>
            <a:avLst/>
            <a:gdLst/>
            <a:ahLst/>
            <a:cxnLst/>
            <a:rect r="r" b="b" t="t" l="l"/>
            <a:pathLst>
              <a:path h="12935956" w="6844296">
                <a:moveTo>
                  <a:pt x="0" y="0"/>
                </a:moveTo>
                <a:lnTo>
                  <a:pt x="6844296" y="0"/>
                </a:lnTo>
                <a:lnTo>
                  <a:pt x="6844296" y="12935956"/>
                </a:lnTo>
                <a:lnTo>
                  <a:pt x="0" y="12935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3902465"/>
            <a:ext cx="5827339" cy="6384535"/>
          </a:xfrm>
          <a:custGeom>
            <a:avLst/>
            <a:gdLst/>
            <a:ahLst/>
            <a:cxnLst/>
            <a:rect r="r" b="b" t="t" l="l"/>
            <a:pathLst>
              <a:path h="6384535" w="5827339">
                <a:moveTo>
                  <a:pt x="0" y="0"/>
                </a:moveTo>
                <a:lnTo>
                  <a:pt x="5827339" y="0"/>
                </a:lnTo>
                <a:lnTo>
                  <a:pt x="5827339" y="6384535"/>
                </a:lnTo>
                <a:lnTo>
                  <a:pt x="0" y="63845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837152" y="-20574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7" y="0"/>
                </a:lnTo>
                <a:lnTo>
                  <a:pt x="2611027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628900" y="230678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375" y="1199469"/>
            <a:ext cx="15461007" cy="19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4"/>
              </a:lnSpc>
            </a:pPr>
            <a:r>
              <a:rPr lang="en-US" b="true" sz="1096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OUR TEAM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837152" y="5143500"/>
            <a:ext cx="6844296" cy="12935956"/>
          </a:xfrm>
          <a:custGeom>
            <a:avLst/>
            <a:gdLst/>
            <a:ahLst/>
            <a:cxnLst/>
            <a:rect r="r" b="b" t="t" l="l"/>
            <a:pathLst>
              <a:path h="12935956" w="6844296">
                <a:moveTo>
                  <a:pt x="0" y="0"/>
                </a:moveTo>
                <a:lnTo>
                  <a:pt x="6844296" y="0"/>
                </a:lnTo>
                <a:lnTo>
                  <a:pt x="6844296" y="12935956"/>
                </a:lnTo>
                <a:lnTo>
                  <a:pt x="0" y="12935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66859" y="6372213"/>
            <a:ext cx="4366589" cy="4784111"/>
          </a:xfrm>
          <a:custGeom>
            <a:avLst/>
            <a:gdLst/>
            <a:ahLst/>
            <a:cxnLst/>
            <a:rect r="r" b="b" t="t" l="l"/>
            <a:pathLst>
              <a:path h="4784111" w="4366589">
                <a:moveTo>
                  <a:pt x="0" y="0"/>
                </a:moveTo>
                <a:lnTo>
                  <a:pt x="4366588" y="0"/>
                </a:lnTo>
                <a:lnTo>
                  <a:pt x="4366588" y="4784111"/>
                </a:lnTo>
                <a:lnTo>
                  <a:pt x="0" y="4784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837152" y="-20574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7" y="0"/>
                </a:lnTo>
                <a:lnTo>
                  <a:pt x="2611027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628900" y="230678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86300" y="5638366"/>
            <a:ext cx="7581500" cy="100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5888" indent="-567944" lvl="1">
              <a:lnSpc>
                <a:spcPts val="7365"/>
              </a:lnSpc>
              <a:buFont typeface="Arial"/>
              <a:buChar char="•"/>
            </a:pPr>
            <a:r>
              <a:rPr lang="en-US" sz="5261">
                <a:solidFill>
                  <a:srgbClr val="363D56"/>
                </a:solidFill>
                <a:latin typeface="Old Standard"/>
                <a:ea typeface="Old Standard"/>
                <a:cs typeface="Old Standard"/>
                <a:sym typeface="Old Standard"/>
              </a:rPr>
              <a:t>Tayyab Shahzad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86300" y="4534334"/>
            <a:ext cx="7581500" cy="100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5887" indent="-567944" lvl="1">
              <a:lnSpc>
                <a:spcPts val="7365"/>
              </a:lnSpc>
              <a:buFont typeface="Arial"/>
              <a:buChar char="•"/>
            </a:pPr>
            <a:r>
              <a:rPr lang="en-US" sz="5261">
                <a:solidFill>
                  <a:srgbClr val="363D56"/>
                </a:solidFill>
                <a:latin typeface="Old Standard"/>
                <a:ea typeface="Old Standard"/>
                <a:cs typeface="Old Standard"/>
                <a:sym typeface="Old Standard"/>
              </a:rPr>
              <a:t>Shahbaz Ali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6300" y="3430301"/>
            <a:ext cx="7581500" cy="1008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5887" indent="-567944" lvl="1">
              <a:lnSpc>
                <a:spcPts val="7365"/>
              </a:lnSpc>
              <a:buFont typeface="Arial"/>
              <a:buChar char="•"/>
            </a:pPr>
            <a:r>
              <a:rPr lang="en-US" sz="5261">
                <a:solidFill>
                  <a:srgbClr val="363D56"/>
                </a:solidFill>
                <a:latin typeface="Old Standard"/>
                <a:ea typeface="Old Standard"/>
                <a:cs typeface="Old Standard"/>
                <a:sym typeface="Old Standard"/>
              </a:rPr>
              <a:t>Ahmer Sultan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86300" y="6742982"/>
            <a:ext cx="7581500" cy="100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5888" indent="-567944" lvl="1">
              <a:lnSpc>
                <a:spcPts val="7365"/>
              </a:lnSpc>
              <a:buFont typeface="Arial"/>
              <a:buChar char="•"/>
            </a:pPr>
            <a:r>
              <a:rPr lang="en-US" sz="5261">
                <a:solidFill>
                  <a:srgbClr val="363D56"/>
                </a:solidFill>
                <a:latin typeface="Old Standard"/>
                <a:ea typeface="Old Standard"/>
                <a:cs typeface="Old Standard"/>
                <a:sym typeface="Old Standard"/>
              </a:rPr>
              <a:t>Mishaal Aqdas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86300" y="7847599"/>
            <a:ext cx="7581500" cy="100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5888" indent="-567944" lvl="1">
              <a:lnSpc>
                <a:spcPts val="7365"/>
              </a:lnSpc>
              <a:buFont typeface="Arial"/>
              <a:buChar char="•"/>
            </a:pPr>
            <a:r>
              <a:rPr lang="en-US" sz="5261">
                <a:solidFill>
                  <a:srgbClr val="363D56"/>
                </a:solidFill>
                <a:latin typeface="Old Standard"/>
                <a:ea typeface="Old Standard"/>
                <a:cs typeface="Old Standard"/>
                <a:sym typeface="Old Standard"/>
              </a:rPr>
              <a:t>Sundeep Kumar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7131" y="1056989"/>
            <a:ext cx="15293739" cy="19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4"/>
              </a:lnSpc>
            </a:pPr>
            <a:r>
              <a:rPr lang="en-US" b="true" sz="1096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07639" y="3032190"/>
            <a:ext cx="14472721" cy="5721199"/>
            <a:chOff x="0" y="0"/>
            <a:chExt cx="3811745" cy="15068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1746" cy="1506818"/>
            </a:xfrm>
            <a:custGeom>
              <a:avLst/>
              <a:gdLst/>
              <a:ahLst/>
              <a:cxnLst/>
              <a:rect r="r" b="b" t="t" l="l"/>
              <a:pathLst>
                <a:path h="1506818" w="3811746">
                  <a:moveTo>
                    <a:pt x="27282" y="0"/>
                  </a:moveTo>
                  <a:lnTo>
                    <a:pt x="3784464" y="0"/>
                  </a:lnTo>
                  <a:cubicBezTo>
                    <a:pt x="3791700" y="0"/>
                    <a:pt x="3798639" y="2874"/>
                    <a:pt x="3803755" y="7991"/>
                  </a:cubicBezTo>
                  <a:cubicBezTo>
                    <a:pt x="3808871" y="13107"/>
                    <a:pt x="3811746" y="20046"/>
                    <a:pt x="3811746" y="27282"/>
                  </a:cubicBezTo>
                  <a:lnTo>
                    <a:pt x="3811746" y="1479536"/>
                  </a:lnTo>
                  <a:cubicBezTo>
                    <a:pt x="3811746" y="1486772"/>
                    <a:pt x="3808871" y="1493711"/>
                    <a:pt x="3803755" y="1498827"/>
                  </a:cubicBezTo>
                  <a:cubicBezTo>
                    <a:pt x="3798639" y="1503944"/>
                    <a:pt x="3791700" y="1506818"/>
                    <a:pt x="3784464" y="1506818"/>
                  </a:cubicBezTo>
                  <a:lnTo>
                    <a:pt x="27282" y="1506818"/>
                  </a:lnTo>
                  <a:cubicBezTo>
                    <a:pt x="20046" y="1506818"/>
                    <a:pt x="13107" y="1503944"/>
                    <a:pt x="7991" y="1498827"/>
                  </a:cubicBezTo>
                  <a:cubicBezTo>
                    <a:pt x="2874" y="1493711"/>
                    <a:pt x="0" y="1486772"/>
                    <a:pt x="0" y="1479536"/>
                  </a:cubicBezTo>
                  <a:lnTo>
                    <a:pt x="0" y="27282"/>
                  </a:lnTo>
                  <a:cubicBezTo>
                    <a:pt x="0" y="20046"/>
                    <a:pt x="2874" y="13107"/>
                    <a:pt x="7991" y="7991"/>
                  </a:cubicBezTo>
                  <a:cubicBezTo>
                    <a:pt x="13107" y="2874"/>
                    <a:pt x="20046" y="0"/>
                    <a:pt x="27282" y="0"/>
                  </a:cubicBezTo>
                  <a:close/>
                </a:path>
              </a:pathLst>
            </a:custGeom>
            <a:solidFill>
              <a:srgbClr val="D1D3D4">
                <a:alpha val="84706"/>
              </a:srgbClr>
            </a:solidFill>
            <a:ln w="38100" cap="rnd">
              <a:solidFill>
                <a:srgbClr val="363D56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1745" cy="1544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338690" y="3135725"/>
            <a:ext cx="13629671" cy="546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9"/>
              </a:lnSpc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NSSI </a:t>
            </a: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stands for Namal Society for Social Impact.</a:t>
            </a:r>
          </a:p>
          <a:p>
            <a:pPr algn="l">
              <a:lnSpc>
                <a:spcPts val="4819"/>
              </a:lnSpc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society Is providing services in various aspects of problems.</a:t>
            </a:r>
          </a:p>
          <a:p>
            <a:pPr algn="l">
              <a:lnSpc>
                <a:spcPts val="4819"/>
              </a:lnSpc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society originally has 8 wings, but due to overlapping functions, some of them have been merged.</a:t>
            </a:r>
          </a:p>
          <a:p>
            <a:pPr algn="l">
              <a:lnSpc>
                <a:spcPts val="4819"/>
              </a:lnSpc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this software, we have managed</a:t>
            </a:r>
            <a:r>
              <a:rPr lang="en-US" sz="34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four main wings</a:t>
            </a: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743241" indent="-371620" lvl="1">
              <a:lnSpc>
                <a:spcPts val="4819"/>
              </a:lnSpc>
              <a:buFont typeface="Arial"/>
              <a:buChar char="•"/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Education and Skill Development Wing</a:t>
            </a:r>
          </a:p>
          <a:p>
            <a:pPr algn="l" marL="743241" indent="-371620" lvl="1">
              <a:lnSpc>
                <a:spcPts val="4819"/>
              </a:lnSpc>
              <a:buFont typeface="Arial"/>
              <a:buChar char="•"/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Blood Donation Wing</a:t>
            </a:r>
          </a:p>
          <a:p>
            <a:pPr algn="l" marL="743241" indent="-371620" lvl="1">
              <a:lnSpc>
                <a:spcPts val="4819"/>
              </a:lnSpc>
              <a:buFont typeface="Arial"/>
              <a:buChar char="•"/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Social and Welfare Wing</a:t>
            </a:r>
          </a:p>
          <a:p>
            <a:pPr algn="l" marL="743241" indent="-371620" lvl="1">
              <a:lnSpc>
                <a:spcPts val="4819"/>
              </a:lnSpc>
              <a:buFont typeface="Arial"/>
              <a:buChar char="•"/>
            </a:pPr>
            <a:r>
              <a:rPr lang="en-US" sz="34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Emergency Response and Assistance Wing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2127" y="1078403"/>
            <a:ext cx="13451659" cy="228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06"/>
              </a:lnSpc>
            </a:pPr>
            <a:r>
              <a:rPr lang="en-US" b="true" sz="6361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EDUCATION AND SKILL </a:t>
            </a:r>
          </a:p>
          <a:p>
            <a:pPr algn="ctr">
              <a:lnSpc>
                <a:spcPts val="8906"/>
              </a:lnSpc>
            </a:pPr>
            <a:r>
              <a:rPr lang="en-US" b="true" sz="6361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DEVELOPMENT WING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07639" y="3359944"/>
            <a:ext cx="14472721" cy="5721199"/>
            <a:chOff x="0" y="0"/>
            <a:chExt cx="19296961" cy="762826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296961" cy="7628265"/>
              <a:chOff x="0" y="0"/>
              <a:chExt cx="3811745" cy="150681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11746" cy="1506818"/>
              </a:xfrm>
              <a:custGeom>
                <a:avLst/>
                <a:gdLst/>
                <a:ahLst/>
                <a:cxnLst/>
                <a:rect r="r" b="b" t="t" l="l"/>
                <a:pathLst>
                  <a:path h="1506818" w="3811746">
                    <a:moveTo>
                      <a:pt x="27282" y="0"/>
                    </a:moveTo>
                    <a:lnTo>
                      <a:pt x="3784464" y="0"/>
                    </a:lnTo>
                    <a:cubicBezTo>
                      <a:pt x="3791700" y="0"/>
                      <a:pt x="3798639" y="2874"/>
                      <a:pt x="3803755" y="7991"/>
                    </a:cubicBezTo>
                    <a:cubicBezTo>
                      <a:pt x="3808871" y="13107"/>
                      <a:pt x="3811746" y="20046"/>
                      <a:pt x="3811746" y="27282"/>
                    </a:cubicBezTo>
                    <a:lnTo>
                      <a:pt x="3811746" y="1479536"/>
                    </a:lnTo>
                    <a:cubicBezTo>
                      <a:pt x="3811746" y="1486772"/>
                      <a:pt x="3808871" y="1493711"/>
                      <a:pt x="3803755" y="1498827"/>
                    </a:cubicBezTo>
                    <a:cubicBezTo>
                      <a:pt x="3798639" y="1503944"/>
                      <a:pt x="3791700" y="1506818"/>
                      <a:pt x="3784464" y="1506818"/>
                    </a:cubicBezTo>
                    <a:lnTo>
                      <a:pt x="27282" y="1506818"/>
                    </a:lnTo>
                    <a:cubicBezTo>
                      <a:pt x="20046" y="1506818"/>
                      <a:pt x="13107" y="1503944"/>
                      <a:pt x="7991" y="1498827"/>
                    </a:cubicBezTo>
                    <a:cubicBezTo>
                      <a:pt x="2874" y="1493711"/>
                      <a:pt x="0" y="1486772"/>
                      <a:pt x="0" y="1479536"/>
                    </a:cubicBezTo>
                    <a:lnTo>
                      <a:pt x="0" y="27282"/>
                    </a:lnTo>
                    <a:cubicBezTo>
                      <a:pt x="0" y="20046"/>
                      <a:pt x="2874" y="13107"/>
                      <a:pt x="7991" y="7991"/>
                    </a:cubicBezTo>
                    <a:cubicBezTo>
                      <a:pt x="13107" y="2874"/>
                      <a:pt x="20046" y="0"/>
                      <a:pt x="27282" y="0"/>
                    </a:cubicBezTo>
                    <a:close/>
                  </a:path>
                </a:pathLst>
              </a:custGeom>
              <a:solidFill>
                <a:srgbClr val="D1D3D4">
                  <a:alpha val="84706"/>
                </a:srgbClr>
              </a:solidFill>
              <a:ln w="38100" cap="rnd">
                <a:solidFill>
                  <a:srgbClr val="363D56">
                    <a:alpha val="84706"/>
                  </a:srgbClr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11745" cy="15449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66220" y="370860"/>
              <a:ext cx="18164521" cy="651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40"/>
                </a:lnSpc>
              </a:pPr>
              <a:r>
                <a:rPr lang="en-US" sz="467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In this wing, we have managed:</a:t>
              </a:r>
            </a:p>
            <a:p>
              <a:pPr algn="l" marL="1008574" indent="-504287" lvl="1">
                <a:lnSpc>
                  <a:spcPts val="6540"/>
                </a:lnSpc>
                <a:buFont typeface="Arial"/>
                <a:buChar char="•"/>
              </a:pPr>
              <a:r>
                <a:rPr lang="en-US" sz="467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Student registration and  attendance</a:t>
              </a:r>
            </a:p>
            <a:p>
              <a:pPr algn="l" marL="1008574" indent="-504287" lvl="1">
                <a:lnSpc>
                  <a:spcPts val="6540"/>
                </a:lnSpc>
                <a:buFont typeface="Arial"/>
                <a:buChar char="•"/>
              </a:pPr>
              <a:r>
                <a:rPr lang="en-US" sz="467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members' data along with their assigned roles</a:t>
              </a:r>
            </a:p>
            <a:p>
              <a:pPr algn="l" marL="1008574" indent="-504287" lvl="1">
                <a:lnSpc>
                  <a:spcPts val="6540"/>
                </a:lnSpc>
                <a:buFont typeface="Arial"/>
                <a:buChar char="•"/>
              </a:pPr>
              <a:r>
                <a:rPr lang="en-US" sz="467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Skill Development Wing has been merged into this wing based on functional similarity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5547" y="1009271"/>
            <a:ext cx="9792201" cy="238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6"/>
              </a:lnSpc>
            </a:pPr>
            <a:r>
              <a:rPr lang="en-US" b="true" sz="6632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BLOOD DONATION </a:t>
            </a:r>
          </a:p>
          <a:p>
            <a:pPr algn="ctr">
              <a:lnSpc>
                <a:spcPts val="9286"/>
              </a:lnSpc>
            </a:pPr>
            <a:r>
              <a:rPr lang="en-US" b="true" sz="6632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WING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07639" y="3389960"/>
            <a:ext cx="14472721" cy="5721199"/>
            <a:chOff x="0" y="0"/>
            <a:chExt cx="19296961" cy="762826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296961" cy="7628265"/>
              <a:chOff x="0" y="0"/>
              <a:chExt cx="3811745" cy="150681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11746" cy="1506818"/>
              </a:xfrm>
              <a:custGeom>
                <a:avLst/>
                <a:gdLst/>
                <a:ahLst/>
                <a:cxnLst/>
                <a:rect r="r" b="b" t="t" l="l"/>
                <a:pathLst>
                  <a:path h="1506818" w="3811746">
                    <a:moveTo>
                      <a:pt x="27282" y="0"/>
                    </a:moveTo>
                    <a:lnTo>
                      <a:pt x="3784464" y="0"/>
                    </a:lnTo>
                    <a:cubicBezTo>
                      <a:pt x="3791700" y="0"/>
                      <a:pt x="3798639" y="2874"/>
                      <a:pt x="3803755" y="7991"/>
                    </a:cubicBezTo>
                    <a:cubicBezTo>
                      <a:pt x="3808871" y="13107"/>
                      <a:pt x="3811746" y="20046"/>
                      <a:pt x="3811746" y="27282"/>
                    </a:cubicBezTo>
                    <a:lnTo>
                      <a:pt x="3811746" y="1479536"/>
                    </a:lnTo>
                    <a:cubicBezTo>
                      <a:pt x="3811746" y="1486772"/>
                      <a:pt x="3808871" y="1493711"/>
                      <a:pt x="3803755" y="1498827"/>
                    </a:cubicBezTo>
                    <a:cubicBezTo>
                      <a:pt x="3798639" y="1503944"/>
                      <a:pt x="3791700" y="1506818"/>
                      <a:pt x="3784464" y="1506818"/>
                    </a:cubicBezTo>
                    <a:lnTo>
                      <a:pt x="27282" y="1506818"/>
                    </a:lnTo>
                    <a:cubicBezTo>
                      <a:pt x="20046" y="1506818"/>
                      <a:pt x="13107" y="1503944"/>
                      <a:pt x="7991" y="1498827"/>
                    </a:cubicBezTo>
                    <a:cubicBezTo>
                      <a:pt x="2874" y="1493711"/>
                      <a:pt x="0" y="1486772"/>
                      <a:pt x="0" y="1479536"/>
                    </a:cubicBezTo>
                    <a:lnTo>
                      <a:pt x="0" y="27282"/>
                    </a:lnTo>
                    <a:cubicBezTo>
                      <a:pt x="0" y="20046"/>
                      <a:pt x="2874" y="13107"/>
                      <a:pt x="7991" y="7991"/>
                    </a:cubicBezTo>
                    <a:cubicBezTo>
                      <a:pt x="13107" y="2874"/>
                      <a:pt x="20046" y="0"/>
                      <a:pt x="27282" y="0"/>
                    </a:cubicBezTo>
                    <a:close/>
                  </a:path>
                </a:pathLst>
              </a:custGeom>
              <a:solidFill>
                <a:srgbClr val="D1D3D4">
                  <a:alpha val="84706"/>
                </a:srgbClr>
              </a:solidFill>
              <a:ln w="38100" cap="rnd">
                <a:solidFill>
                  <a:srgbClr val="363D56">
                    <a:alpha val="84706"/>
                  </a:srgbClr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11745" cy="15449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39083" y="128682"/>
              <a:ext cx="18121792" cy="7285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4"/>
                </a:lnSpc>
              </a:pPr>
              <a:r>
                <a:rPr lang="en-US" sz="44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This wing manages:</a:t>
              </a:r>
            </a:p>
            <a:p>
              <a:pPr algn="l" marL="967604" indent="-483802" lvl="1">
                <a:lnSpc>
                  <a:spcPts val="6274"/>
                </a:lnSpc>
                <a:buFont typeface="Arial"/>
                <a:buChar char="•"/>
              </a:pPr>
              <a:r>
                <a:rPr lang="en-US" sz="44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Students’ personal data and blood group information</a:t>
              </a:r>
            </a:p>
            <a:p>
              <a:pPr algn="l" marL="967604" indent="-483802" lvl="1">
                <a:lnSpc>
                  <a:spcPts val="6274"/>
                </a:lnSpc>
                <a:buFont typeface="Arial"/>
                <a:buChar char="•"/>
              </a:pPr>
              <a:r>
                <a:rPr lang="en-US" sz="44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Whenever there is a need for blood, the concerned student can be contacted through email for donation</a:t>
              </a:r>
            </a:p>
            <a:p>
              <a:pPr algn="l" marL="967604" indent="-483802" lvl="1">
                <a:lnSpc>
                  <a:spcPts val="6274"/>
                </a:lnSpc>
                <a:buFont typeface="Arial"/>
                <a:buChar char="•"/>
              </a:pPr>
              <a:r>
                <a:rPr lang="en-US" sz="448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Reward system to appreciate donors.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0062" y="894700"/>
            <a:ext cx="13147935" cy="249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06"/>
              </a:lnSpc>
            </a:pPr>
            <a:r>
              <a:rPr lang="en-US" b="true" sz="6933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 SOCIAL AND </a:t>
            </a:r>
          </a:p>
          <a:p>
            <a:pPr algn="ctr">
              <a:lnSpc>
                <a:spcPts val="9706"/>
              </a:lnSpc>
            </a:pPr>
            <a:r>
              <a:rPr lang="en-US" b="true" sz="6933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WELFARE WING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07639" y="3393563"/>
            <a:ext cx="14409250" cy="5696108"/>
            <a:chOff x="0" y="0"/>
            <a:chExt cx="19212333" cy="759481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212333" cy="7594811"/>
              <a:chOff x="0" y="0"/>
              <a:chExt cx="3811745" cy="150681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11746" cy="1506818"/>
              </a:xfrm>
              <a:custGeom>
                <a:avLst/>
                <a:gdLst/>
                <a:ahLst/>
                <a:cxnLst/>
                <a:rect r="r" b="b" t="t" l="l"/>
                <a:pathLst>
                  <a:path h="1506818" w="3811746">
                    <a:moveTo>
                      <a:pt x="27282" y="0"/>
                    </a:moveTo>
                    <a:lnTo>
                      <a:pt x="3784464" y="0"/>
                    </a:lnTo>
                    <a:cubicBezTo>
                      <a:pt x="3791700" y="0"/>
                      <a:pt x="3798639" y="2874"/>
                      <a:pt x="3803755" y="7991"/>
                    </a:cubicBezTo>
                    <a:cubicBezTo>
                      <a:pt x="3808871" y="13107"/>
                      <a:pt x="3811746" y="20046"/>
                      <a:pt x="3811746" y="27282"/>
                    </a:cubicBezTo>
                    <a:lnTo>
                      <a:pt x="3811746" y="1479536"/>
                    </a:lnTo>
                    <a:cubicBezTo>
                      <a:pt x="3811746" y="1486772"/>
                      <a:pt x="3808871" y="1493711"/>
                      <a:pt x="3803755" y="1498827"/>
                    </a:cubicBezTo>
                    <a:cubicBezTo>
                      <a:pt x="3798639" y="1503944"/>
                      <a:pt x="3791700" y="1506818"/>
                      <a:pt x="3784464" y="1506818"/>
                    </a:cubicBezTo>
                    <a:lnTo>
                      <a:pt x="27282" y="1506818"/>
                    </a:lnTo>
                    <a:cubicBezTo>
                      <a:pt x="20046" y="1506818"/>
                      <a:pt x="13107" y="1503944"/>
                      <a:pt x="7991" y="1498827"/>
                    </a:cubicBezTo>
                    <a:cubicBezTo>
                      <a:pt x="2874" y="1493711"/>
                      <a:pt x="0" y="1486772"/>
                      <a:pt x="0" y="1479536"/>
                    </a:cubicBezTo>
                    <a:lnTo>
                      <a:pt x="0" y="27282"/>
                    </a:lnTo>
                    <a:cubicBezTo>
                      <a:pt x="0" y="20046"/>
                      <a:pt x="2874" y="13107"/>
                      <a:pt x="7991" y="7991"/>
                    </a:cubicBezTo>
                    <a:cubicBezTo>
                      <a:pt x="13107" y="2874"/>
                      <a:pt x="20046" y="0"/>
                      <a:pt x="27282" y="0"/>
                    </a:cubicBezTo>
                    <a:close/>
                  </a:path>
                </a:pathLst>
              </a:custGeom>
              <a:solidFill>
                <a:srgbClr val="D1D3D4">
                  <a:alpha val="84706"/>
                </a:srgbClr>
              </a:solidFill>
              <a:ln w="38100" cap="rnd">
                <a:solidFill>
                  <a:srgbClr val="363D56">
                    <a:alpha val="84706"/>
                  </a:srgbClr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11745" cy="15449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28755" y="287120"/>
              <a:ext cx="17917307" cy="6944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78"/>
                </a:lnSpc>
              </a:pPr>
              <a:r>
                <a:rPr lang="en-US" sz="42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This wing is responsible for:</a:t>
              </a:r>
            </a:p>
            <a:p>
              <a:pPr algn="l" marL="921947" indent="-460974" lvl="1">
                <a:lnSpc>
                  <a:spcPts val="5978"/>
                </a:lnSpc>
                <a:buFont typeface="Arial"/>
                <a:buChar char="•"/>
              </a:pPr>
              <a:r>
                <a:rPr lang="en-US" sz="42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Managing team members' data</a:t>
              </a:r>
            </a:p>
            <a:p>
              <a:pPr algn="l" marL="921947" indent="-460974" lvl="1">
                <a:lnSpc>
                  <a:spcPts val="5978"/>
                </a:lnSpc>
                <a:buFont typeface="Arial"/>
                <a:buChar char="•"/>
              </a:pPr>
              <a:r>
                <a:rPr lang="en-US" sz="42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Managing project-related information</a:t>
              </a:r>
            </a:p>
            <a:p>
              <a:pPr algn="l" marL="921947" indent="-460974" lvl="1">
                <a:lnSpc>
                  <a:spcPts val="5978"/>
                </a:lnSpc>
                <a:buFont typeface="Arial"/>
                <a:buChar char="•"/>
              </a:pPr>
              <a:r>
                <a:rPr lang="en-US" sz="42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Tracking how much fund is allocated and how much is utilized in each project</a:t>
              </a:r>
            </a:p>
            <a:p>
              <a:pPr algn="l" marL="921947" indent="-460974" lvl="1">
                <a:lnSpc>
                  <a:spcPts val="5978"/>
                </a:lnSpc>
                <a:buFont typeface="Arial"/>
                <a:buChar char="•"/>
              </a:pPr>
              <a:r>
                <a:rPr lang="en-US" sz="427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Keeping a proper record of all activities and fund usage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37479" y="1241326"/>
            <a:ext cx="12013043" cy="229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6"/>
              </a:lnSpc>
            </a:pPr>
            <a:r>
              <a:rPr lang="en-US" b="true" sz="6404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 EMERGENCY RESPONSE AND ASSISTANCE WING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07639" y="3413271"/>
            <a:ext cx="14359396" cy="5676400"/>
            <a:chOff x="0" y="0"/>
            <a:chExt cx="19145861" cy="756853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145861" cy="7568534"/>
              <a:chOff x="0" y="0"/>
              <a:chExt cx="3811745" cy="150681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11746" cy="1506818"/>
              </a:xfrm>
              <a:custGeom>
                <a:avLst/>
                <a:gdLst/>
                <a:ahLst/>
                <a:cxnLst/>
                <a:rect r="r" b="b" t="t" l="l"/>
                <a:pathLst>
                  <a:path h="1506818" w="3811746">
                    <a:moveTo>
                      <a:pt x="27282" y="0"/>
                    </a:moveTo>
                    <a:lnTo>
                      <a:pt x="3784464" y="0"/>
                    </a:lnTo>
                    <a:cubicBezTo>
                      <a:pt x="3791700" y="0"/>
                      <a:pt x="3798639" y="2874"/>
                      <a:pt x="3803755" y="7991"/>
                    </a:cubicBezTo>
                    <a:cubicBezTo>
                      <a:pt x="3808871" y="13107"/>
                      <a:pt x="3811746" y="20046"/>
                      <a:pt x="3811746" y="27282"/>
                    </a:cubicBezTo>
                    <a:lnTo>
                      <a:pt x="3811746" y="1479536"/>
                    </a:lnTo>
                    <a:cubicBezTo>
                      <a:pt x="3811746" y="1486772"/>
                      <a:pt x="3808871" y="1493711"/>
                      <a:pt x="3803755" y="1498827"/>
                    </a:cubicBezTo>
                    <a:cubicBezTo>
                      <a:pt x="3798639" y="1503944"/>
                      <a:pt x="3791700" y="1506818"/>
                      <a:pt x="3784464" y="1506818"/>
                    </a:cubicBezTo>
                    <a:lnTo>
                      <a:pt x="27282" y="1506818"/>
                    </a:lnTo>
                    <a:cubicBezTo>
                      <a:pt x="20046" y="1506818"/>
                      <a:pt x="13107" y="1503944"/>
                      <a:pt x="7991" y="1498827"/>
                    </a:cubicBezTo>
                    <a:cubicBezTo>
                      <a:pt x="2874" y="1493711"/>
                      <a:pt x="0" y="1486772"/>
                      <a:pt x="0" y="1479536"/>
                    </a:cubicBezTo>
                    <a:lnTo>
                      <a:pt x="0" y="27282"/>
                    </a:lnTo>
                    <a:cubicBezTo>
                      <a:pt x="0" y="20046"/>
                      <a:pt x="2874" y="13107"/>
                      <a:pt x="7991" y="7991"/>
                    </a:cubicBezTo>
                    <a:cubicBezTo>
                      <a:pt x="13107" y="2874"/>
                      <a:pt x="20046" y="0"/>
                      <a:pt x="27282" y="0"/>
                    </a:cubicBezTo>
                    <a:close/>
                  </a:path>
                </a:pathLst>
              </a:custGeom>
              <a:solidFill>
                <a:srgbClr val="D1D3D4">
                  <a:alpha val="84706"/>
                </a:srgbClr>
              </a:solidFill>
              <a:ln w="38100" cap="rnd">
                <a:solidFill>
                  <a:srgbClr val="363D56">
                    <a:alpha val="84706"/>
                  </a:srgbClr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11745" cy="15449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8559" y="537776"/>
              <a:ext cx="17587898" cy="6416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19"/>
                </a:lnSpc>
              </a:pPr>
              <a:r>
                <a:rPr lang="en-US" sz="39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39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</a:t>
              </a:r>
              <a:r>
                <a:rPr lang="en-US" sz="39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 this wing, we manage:</a:t>
              </a:r>
            </a:p>
            <a:p>
              <a:pPr algn="l" marL="851127" indent="-425563" lvl="1">
                <a:lnSpc>
                  <a:spcPts val="5519"/>
                </a:lnSpc>
                <a:buFont typeface="Arial"/>
                <a:buChar char="•"/>
              </a:pPr>
              <a:r>
                <a:rPr lang="en-US" sz="39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of students, faculty, and non-faculty members</a:t>
              </a:r>
            </a:p>
            <a:p>
              <a:pPr algn="l" marL="851127" indent="-425563" lvl="1">
                <a:lnSpc>
                  <a:spcPts val="5519"/>
                </a:lnSpc>
                <a:buFont typeface="Arial"/>
                <a:buChar char="•"/>
              </a:pPr>
              <a:r>
                <a:rPr lang="en-US" sz="39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Patient records and the supervisor involved in each case</a:t>
              </a:r>
            </a:p>
            <a:p>
              <a:pPr algn="l" marL="851127" indent="-425563" lvl="1">
                <a:lnSpc>
                  <a:spcPts val="5519"/>
                </a:lnSpc>
                <a:buFont typeface="Arial"/>
                <a:buChar char="•"/>
              </a:pPr>
              <a:r>
                <a:rPr lang="en-US" sz="394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Dispensary inventory including medicines and stock details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7131" y="1056989"/>
            <a:ext cx="15293739" cy="19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4"/>
              </a:lnSpc>
            </a:pPr>
            <a:r>
              <a:rPr lang="en-US" b="true" sz="1096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PURPOSE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5400000">
            <a:off x="15015728" y="2957020"/>
            <a:ext cx="1378252" cy="2172030"/>
          </a:xfrm>
          <a:custGeom>
            <a:avLst/>
            <a:gdLst/>
            <a:ahLst/>
            <a:cxnLst/>
            <a:rect r="r" b="b" t="t" l="l"/>
            <a:pathLst>
              <a:path h="2172030" w="1378252">
                <a:moveTo>
                  <a:pt x="1378252" y="2172030"/>
                </a:moveTo>
                <a:lnTo>
                  <a:pt x="0" y="2172030"/>
                </a:lnTo>
                <a:lnTo>
                  <a:pt x="0" y="0"/>
                </a:lnTo>
                <a:lnTo>
                  <a:pt x="1378252" y="0"/>
                </a:lnTo>
                <a:lnTo>
                  <a:pt x="1378252" y="217203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112458" y="3032190"/>
            <a:ext cx="10561070" cy="5007863"/>
            <a:chOff x="0" y="0"/>
            <a:chExt cx="14081427" cy="667715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4081427" cy="6677150"/>
              <a:chOff x="0" y="0"/>
              <a:chExt cx="2456499" cy="116482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56499" cy="1164826"/>
              </a:xfrm>
              <a:custGeom>
                <a:avLst/>
                <a:gdLst/>
                <a:ahLst/>
                <a:cxnLst/>
                <a:rect r="r" b="b" t="t" l="l"/>
                <a:pathLst>
                  <a:path h="1164826" w="2456499">
                    <a:moveTo>
                      <a:pt x="42333" y="0"/>
                    </a:moveTo>
                    <a:lnTo>
                      <a:pt x="2414166" y="0"/>
                    </a:lnTo>
                    <a:cubicBezTo>
                      <a:pt x="2437546" y="0"/>
                      <a:pt x="2456499" y="18953"/>
                      <a:pt x="2456499" y="42333"/>
                    </a:cubicBezTo>
                    <a:lnTo>
                      <a:pt x="2456499" y="1122493"/>
                    </a:lnTo>
                    <a:cubicBezTo>
                      <a:pt x="2456499" y="1145873"/>
                      <a:pt x="2437546" y="1164826"/>
                      <a:pt x="2414166" y="1164826"/>
                    </a:cubicBezTo>
                    <a:lnTo>
                      <a:pt x="42333" y="1164826"/>
                    </a:lnTo>
                    <a:cubicBezTo>
                      <a:pt x="18953" y="1164826"/>
                      <a:pt x="0" y="1145873"/>
                      <a:pt x="0" y="1122493"/>
                    </a:cubicBezTo>
                    <a:lnTo>
                      <a:pt x="0" y="42333"/>
                    </a:lnTo>
                    <a:cubicBezTo>
                      <a:pt x="0" y="18953"/>
                      <a:pt x="18953" y="0"/>
                      <a:pt x="42333" y="0"/>
                    </a:cubicBezTo>
                    <a:close/>
                  </a:path>
                </a:pathLst>
              </a:custGeom>
              <a:solidFill>
                <a:srgbClr val="D1D3D4">
                  <a:alpha val="84706"/>
                </a:srgbClr>
              </a:solidFill>
              <a:ln w="38100" cap="rnd">
                <a:solidFill>
                  <a:srgbClr val="363D56">
                    <a:alpha val="84706"/>
                  </a:srgbClr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456499" cy="1202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46314" y="957024"/>
              <a:ext cx="12985566" cy="4658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1"/>
                </a:lnSpc>
              </a:pPr>
              <a:r>
                <a:rPr lang="en-US" sz="5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 provide NSSI with a software that helps in managing data and makes it easier to handle information from all wings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true" flipV="true" rot="5400000">
            <a:off x="16371975" y="3980275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7" y="0"/>
                </a:lnTo>
                <a:lnTo>
                  <a:pt x="2611027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9821" y="686722"/>
            <a:ext cx="14608359" cy="19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4"/>
              </a:lnSpc>
            </a:pPr>
            <a:r>
              <a:rPr lang="en-US" b="true" sz="1096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METHODOLOGY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386650" y="7855595"/>
            <a:ext cx="4896021" cy="9253649"/>
          </a:xfrm>
          <a:custGeom>
            <a:avLst/>
            <a:gdLst/>
            <a:ahLst/>
            <a:cxnLst/>
            <a:rect r="r" b="b" t="t" l="l"/>
            <a:pathLst>
              <a:path h="9253649" w="4896021">
                <a:moveTo>
                  <a:pt x="0" y="0"/>
                </a:moveTo>
                <a:lnTo>
                  <a:pt x="4896021" y="0"/>
                </a:lnTo>
                <a:lnTo>
                  <a:pt x="4896021" y="9253649"/>
                </a:lnTo>
                <a:lnTo>
                  <a:pt x="0" y="92536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04214" y="7303972"/>
            <a:ext cx="3328555" cy="3646823"/>
          </a:xfrm>
          <a:custGeom>
            <a:avLst/>
            <a:gdLst/>
            <a:ahLst/>
            <a:cxnLst/>
            <a:rect r="r" b="b" t="t" l="l"/>
            <a:pathLst>
              <a:path h="3646823" w="3328555">
                <a:moveTo>
                  <a:pt x="0" y="3646823"/>
                </a:moveTo>
                <a:lnTo>
                  <a:pt x="3328555" y="3646823"/>
                </a:lnTo>
                <a:lnTo>
                  <a:pt x="3328555" y="0"/>
                </a:lnTo>
                <a:lnTo>
                  <a:pt x="0" y="0"/>
                </a:lnTo>
                <a:lnTo>
                  <a:pt x="0" y="364682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61360" y="-1872257"/>
            <a:ext cx="1934679" cy="3048922"/>
          </a:xfrm>
          <a:custGeom>
            <a:avLst/>
            <a:gdLst/>
            <a:ahLst/>
            <a:cxnLst/>
            <a:rect r="r" b="b" t="t" l="l"/>
            <a:pathLst>
              <a:path h="3048922" w="1934679">
                <a:moveTo>
                  <a:pt x="1934680" y="3048921"/>
                </a:moveTo>
                <a:lnTo>
                  <a:pt x="0" y="3048921"/>
                </a:lnTo>
                <a:lnTo>
                  <a:pt x="0" y="0"/>
                </a:lnTo>
                <a:lnTo>
                  <a:pt x="1934680" y="0"/>
                </a:lnTo>
                <a:lnTo>
                  <a:pt x="1934680" y="304892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78862" y="147964"/>
            <a:ext cx="4036706" cy="880736"/>
          </a:xfrm>
          <a:custGeom>
            <a:avLst/>
            <a:gdLst/>
            <a:ahLst/>
            <a:cxnLst/>
            <a:rect r="r" b="b" t="t" l="l"/>
            <a:pathLst>
              <a:path h="880736" w="4036706">
                <a:moveTo>
                  <a:pt x="0" y="0"/>
                </a:moveTo>
                <a:lnTo>
                  <a:pt x="4036706" y="0"/>
                </a:lnTo>
                <a:lnTo>
                  <a:pt x="4036706" y="880736"/>
                </a:lnTo>
                <a:lnTo>
                  <a:pt x="0" y="8807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60202" y="3247689"/>
            <a:ext cx="6923518" cy="5706156"/>
            <a:chOff x="0" y="0"/>
            <a:chExt cx="1905873" cy="15707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873" cy="1570763"/>
            </a:xfrm>
            <a:custGeom>
              <a:avLst/>
              <a:gdLst/>
              <a:ahLst/>
              <a:cxnLst/>
              <a:rect r="r" b="b" t="t" l="l"/>
              <a:pathLst>
                <a:path h="1570763" w="1905873">
                  <a:moveTo>
                    <a:pt x="57029" y="0"/>
                  </a:moveTo>
                  <a:lnTo>
                    <a:pt x="1848844" y="0"/>
                  </a:lnTo>
                  <a:cubicBezTo>
                    <a:pt x="1863969" y="0"/>
                    <a:pt x="1878475" y="6008"/>
                    <a:pt x="1889170" y="16703"/>
                  </a:cubicBezTo>
                  <a:cubicBezTo>
                    <a:pt x="1899864" y="27398"/>
                    <a:pt x="1905873" y="41904"/>
                    <a:pt x="1905873" y="57029"/>
                  </a:cubicBezTo>
                  <a:lnTo>
                    <a:pt x="1905873" y="1513735"/>
                  </a:lnTo>
                  <a:cubicBezTo>
                    <a:pt x="1905873" y="1528859"/>
                    <a:pt x="1899864" y="1543365"/>
                    <a:pt x="1889170" y="1554060"/>
                  </a:cubicBezTo>
                  <a:cubicBezTo>
                    <a:pt x="1878475" y="1564755"/>
                    <a:pt x="1863969" y="1570763"/>
                    <a:pt x="1848844" y="1570763"/>
                  </a:cubicBezTo>
                  <a:lnTo>
                    <a:pt x="57029" y="1570763"/>
                  </a:lnTo>
                  <a:cubicBezTo>
                    <a:pt x="41904" y="1570763"/>
                    <a:pt x="27398" y="1564755"/>
                    <a:pt x="16703" y="1554060"/>
                  </a:cubicBezTo>
                  <a:cubicBezTo>
                    <a:pt x="6008" y="1543365"/>
                    <a:pt x="0" y="1528859"/>
                    <a:pt x="0" y="1513735"/>
                  </a:cubicBezTo>
                  <a:lnTo>
                    <a:pt x="0" y="57029"/>
                  </a:lnTo>
                  <a:cubicBezTo>
                    <a:pt x="0" y="41904"/>
                    <a:pt x="6008" y="27398"/>
                    <a:pt x="16703" y="16703"/>
                  </a:cubicBezTo>
                  <a:cubicBezTo>
                    <a:pt x="27398" y="6008"/>
                    <a:pt x="41904" y="0"/>
                    <a:pt x="57029" y="0"/>
                  </a:cubicBezTo>
                  <a:close/>
                </a:path>
              </a:pathLst>
            </a:custGeom>
            <a:solidFill>
              <a:srgbClr val="D1D3D4">
                <a:alpha val="84706"/>
              </a:srgbClr>
            </a:solidFill>
            <a:ln w="38100" cap="rnd">
              <a:solidFill>
                <a:srgbClr val="363D56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873" cy="1608863"/>
            </a:xfrm>
            <a:prstGeom prst="rect">
              <a:avLst/>
            </a:prstGeom>
          </p:spPr>
          <p:txBody>
            <a:bodyPr anchor="ctr" rtlCol="false" tIns="48604" lIns="48604" bIns="48604" rIns="486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4661" y="3247689"/>
            <a:ext cx="6923518" cy="5706156"/>
            <a:chOff x="0" y="0"/>
            <a:chExt cx="1905873" cy="15707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5873" cy="1570763"/>
            </a:xfrm>
            <a:custGeom>
              <a:avLst/>
              <a:gdLst/>
              <a:ahLst/>
              <a:cxnLst/>
              <a:rect r="r" b="b" t="t" l="l"/>
              <a:pathLst>
                <a:path h="1570763" w="1905873">
                  <a:moveTo>
                    <a:pt x="57029" y="0"/>
                  </a:moveTo>
                  <a:lnTo>
                    <a:pt x="1848844" y="0"/>
                  </a:lnTo>
                  <a:cubicBezTo>
                    <a:pt x="1863969" y="0"/>
                    <a:pt x="1878475" y="6008"/>
                    <a:pt x="1889170" y="16703"/>
                  </a:cubicBezTo>
                  <a:cubicBezTo>
                    <a:pt x="1899864" y="27398"/>
                    <a:pt x="1905873" y="41904"/>
                    <a:pt x="1905873" y="57029"/>
                  </a:cubicBezTo>
                  <a:lnTo>
                    <a:pt x="1905873" y="1513735"/>
                  </a:lnTo>
                  <a:cubicBezTo>
                    <a:pt x="1905873" y="1528859"/>
                    <a:pt x="1899864" y="1543365"/>
                    <a:pt x="1889170" y="1554060"/>
                  </a:cubicBezTo>
                  <a:cubicBezTo>
                    <a:pt x="1878475" y="1564755"/>
                    <a:pt x="1863969" y="1570763"/>
                    <a:pt x="1848844" y="1570763"/>
                  </a:cubicBezTo>
                  <a:lnTo>
                    <a:pt x="57029" y="1570763"/>
                  </a:lnTo>
                  <a:cubicBezTo>
                    <a:pt x="41904" y="1570763"/>
                    <a:pt x="27398" y="1564755"/>
                    <a:pt x="16703" y="1554060"/>
                  </a:cubicBezTo>
                  <a:cubicBezTo>
                    <a:pt x="6008" y="1543365"/>
                    <a:pt x="0" y="1528859"/>
                    <a:pt x="0" y="1513735"/>
                  </a:cubicBezTo>
                  <a:lnTo>
                    <a:pt x="0" y="57029"/>
                  </a:lnTo>
                  <a:cubicBezTo>
                    <a:pt x="0" y="41904"/>
                    <a:pt x="6008" y="27398"/>
                    <a:pt x="16703" y="16703"/>
                  </a:cubicBezTo>
                  <a:cubicBezTo>
                    <a:pt x="27398" y="6008"/>
                    <a:pt x="41904" y="0"/>
                    <a:pt x="57029" y="0"/>
                  </a:cubicBezTo>
                  <a:close/>
                </a:path>
              </a:pathLst>
            </a:custGeom>
            <a:solidFill>
              <a:srgbClr val="D1D3D4">
                <a:alpha val="84706"/>
              </a:srgbClr>
            </a:solidFill>
            <a:ln w="38100" cap="rnd">
              <a:solidFill>
                <a:srgbClr val="363D56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05873" cy="1608863"/>
            </a:xfrm>
            <a:prstGeom prst="rect">
              <a:avLst/>
            </a:prstGeom>
          </p:spPr>
          <p:txBody>
            <a:bodyPr anchor="ctr" rtlCol="false" tIns="48604" lIns="48604" bIns="48604" rIns="48604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24661" y="3494630"/>
            <a:ext cx="6479553" cy="52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826" indent="-390913" lvl="1">
              <a:lnSpc>
                <a:spcPts val="3983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Group Discussion</a:t>
            </a:r>
          </a:p>
          <a:p>
            <a:pPr algn="l" marL="781826" indent="-390913" lvl="1">
              <a:lnSpc>
                <a:spcPts val="3983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Work Division</a:t>
            </a:r>
          </a:p>
          <a:p>
            <a:pPr algn="l" marL="781826" indent="-390913" lvl="1">
              <a:lnSpc>
                <a:spcPts val="4345"/>
              </a:lnSpc>
              <a:buFont typeface="Arial"/>
              <a:buChar char="•"/>
            </a:pPr>
            <a:r>
              <a:rPr lang="en-US" sz="3621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Logic, code and data S</a:t>
            </a:r>
            <a:r>
              <a:rPr lang="en-US" sz="3621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torage</a:t>
            </a:r>
          </a:p>
          <a:p>
            <a:pPr algn="l" marL="781826" indent="-390913" lvl="1">
              <a:lnSpc>
                <a:spcPts val="3983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Implementation of Code</a:t>
            </a:r>
          </a:p>
          <a:p>
            <a:pPr algn="l" marL="781826" indent="-390913" lvl="1">
              <a:lnSpc>
                <a:spcPts val="3983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Code Collection</a:t>
            </a:r>
          </a:p>
          <a:p>
            <a:pPr algn="l" marL="781826" indent="-390913" lvl="1">
              <a:lnSpc>
                <a:spcPts val="3983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Integration of Code</a:t>
            </a:r>
          </a:p>
          <a:p>
            <a:pPr algn="l" marL="781826" indent="-390913" lvl="1">
              <a:lnSpc>
                <a:spcPts val="3983"/>
              </a:lnSpc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Testing and Improvement</a:t>
            </a:r>
          </a:p>
          <a:p>
            <a:pPr algn="l">
              <a:lnSpc>
                <a:spcPts val="3983"/>
              </a:lnSpc>
            </a:pPr>
          </a:p>
          <a:p>
            <a:pPr algn="l">
              <a:lnSpc>
                <a:spcPts val="398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60202" y="3418980"/>
            <a:ext cx="6580557" cy="53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4145" indent="-397073" lvl="1">
              <a:lnSpc>
                <a:spcPts val="4156"/>
              </a:lnSpc>
              <a:buFont typeface="Arial"/>
              <a:buChar char="•"/>
            </a:pP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Understanding the Role of NSSI</a:t>
            </a:r>
          </a:p>
          <a:p>
            <a:pPr algn="just" marL="794145" indent="-397073" lvl="1">
              <a:lnSpc>
                <a:spcPts val="4156"/>
              </a:lnSpc>
              <a:buFont typeface="Arial"/>
              <a:buChar char="•"/>
            </a:pP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Information Gather</a:t>
            </a: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ing by NSSI members and Sir </a:t>
            </a:r>
            <a:r>
              <a:rPr lang="en-US" b="true" sz="3678" spc="7">
                <a:solidFill>
                  <a:srgbClr val="000000"/>
                </a:solidFill>
                <a:latin typeface="Old Standard Bold"/>
                <a:ea typeface="Old Standard Bold"/>
                <a:cs typeface="Old Standard Bold"/>
                <a:sym typeface="Old Standard Bold"/>
              </a:rPr>
              <a:t>Mudassir Jatala</a:t>
            </a: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 (c</a:t>
            </a: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o-pattern of NSSI)</a:t>
            </a:r>
          </a:p>
          <a:p>
            <a:pPr algn="just" marL="794145" indent="-397073" lvl="1">
              <a:lnSpc>
                <a:spcPts val="4156"/>
              </a:lnSpc>
              <a:buFont typeface="Arial"/>
              <a:buChar char="•"/>
            </a:pP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Planning to Make an executable System</a:t>
            </a:r>
          </a:p>
          <a:p>
            <a:pPr algn="just" marL="794145" indent="-397073" lvl="1">
              <a:lnSpc>
                <a:spcPts val="4156"/>
              </a:lnSpc>
              <a:buFont typeface="Arial"/>
              <a:buChar char="•"/>
            </a:pP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G</a:t>
            </a:r>
            <a:r>
              <a:rPr lang="en-US" sz="3678" spc="7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etting key component of NSSI (their wings)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7131" y="1056989"/>
            <a:ext cx="15293739" cy="19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4"/>
              </a:lnSpc>
            </a:pPr>
            <a:r>
              <a:rPr lang="en-US" b="true" sz="1096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CONCEPT USED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734998" y="3030680"/>
            <a:ext cx="5047064" cy="5535962"/>
            <a:chOff x="0" y="0"/>
            <a:chExt cx="2092332" cy="22950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2332" cy="2295012"/>
            </a:xfrm>
            <a:custGeom>
              <a:avLst/>
              <a:gdLst/>
              <a:ahLst/>
              <a:cxnLst/>
              <a:rect r="r" b="b" t="t" l="l"/>
              <a:pathLst>
                <a:path h="2295012" w="2092332">
                  <a:moveTo>
                    <a:pt x="78231" y="0"/>
                  </a:moveTo>
                  <a:lnTo>
                    <a:pt x="2014101" y="0"/>
                  </a:lnTo>
                  <a:cubicBezTo>
                    <a:pt x="2034849" y="0"/>
                    <a:pt x="2054748" y="8242"/>
                    <a:pt x="2069419" y="22913"/>
                  </a:cubicBezTo>
                  <a:cubicBezTo>
                    <a:pt x="2084090" y="37585"/>
                    <a:pt x="2092332" y="57483"/>
                    <a:pt x="2092332" y="78231"/>
                  </a:cubicBezTo>
                  <a:lnTo>
                    <a:pt x="2092332" y="2216780"/>
                  </a:lnTo>
                  <a:cubicBezTo>
                    <a:pt x="2092332" y="2237529"/>
                    <a:pt x="2084090" y="2257427"/>
                    <a:pt x="2069419" y="2272098"/>
                  </a:cubicBezTo>
                  <a:cubicBezTo>
                    <a:pt x="2054748" y="2286770"/>
                    <a:pt x="2034849" y="2295012"/>
                    <a:pt x="2014101" y="2295012"/>
                  </a:cubicBezTo>
                  <a:lnTo>
                    <a:pt x="78231" y="2295012"/>
                  </a:lnTo>
                  <a:cubicBezTo>
                    <a:pt x="35025" y="2295012"/>
                    <a:pt x="0" y="2259986"/>
                    <a:pt x="0" y="2216780"/>
                  </a:cubicBezTo>
                  <a:lnTo>
                    <a:pt x="0" y="78231"/>
                  </a:lnTo>
                  <a:cubicBezTo>
                    <a:pt x="0" y="57483"/>
                    <a:pt x="8242" y="37585"/>
                    <a:pt x="22913" y="22913"/>
                  </a:cubicBezTo>
                  <a:cubicBezTo>
                    <a:pt x="37585" y="8242"/>
                    <a:pt x="57483" y="0"/>
                    <a:pt x="78231" y="0"/>
                  </a:cubicBezTo>
                  <a:close/>
                </a:path>
              </a:pathLst>
            </a:custGeom>
            <a:solidFill>
              <a:srgbClr val="D1D3D4">
                <a:alpha val="84706"/>
              </a:srgbClr>
            </a:solidFill>
            <a:ln w="38100" cap="rnd">
              <a:solidFill>
                <a:srgbClr val="363D56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92332" cy="2333112"/>
            </a:xfrm>
            <a:prstGeom prst="rect">
              <a:avLst/>
            </a:prstGeom>
          </p:spPr>
          <p:txBody>
            <a:bodyPr anchor="ctr" rtlCol="false" tIns="32273" lIns="32273" bIns="32273" rIns="3227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34998" y="3372440"/>
            <a:ext cx="4817400" cy="424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5085" indent="-372543" lvl="1">
              <a:lnSpc>
                <a:spcPts val="4831"/>
              </a:lnSpc>
              <a:buFont typeface="Arial"/>
              <a:buChar char="•"/>
            </a:pPr>
            <a:r>
              <a:rPr lang="en-US" sz="34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Classes and objects</a:t>
            </a:r>
          </a:p>
          <a:p>
            <a:pPr algn="l" marL="745085" indent="-372543" lvl="1">
              <a:lnSpc>
                <a:spcPts val="4831"/>
              </a:lnSpc>
              <a:buFont typeface="Arial"/>
              <a:buChar char="•"/>
            </a:pPr>
            <a:r>
              <a:rPr lang="en-US" sz="34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Composition </a:t>
            </a:r>
          </a:p>
          <a:p>
            <a:pPr algn="l" marL="745085" indent="-372543" lvl="1">
              <a:lnSpc>
                <a:spcPts val="4831"/>
              </a:lnSpc>
              <a:buFont typeface="Arial"/>
              <a:buChar char="•"/>
            </a:pPr>
            <a:r>
              <a:rPr lang="en-US" sz="34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Polimorphism</a:t>
            </a:r>
          </a:p>
          <a:p>
            <a:pPr algn="l" marL="745085" indent="-372543" lvl="1">
              <a:lnSpc>
                <a:spcPts val="4831"/>
              </a:lnSpc>
              <a:buFont typeface="Arial"/>
              <a:buChar char="•"/>
            </a:pPr>
            <a:r>
              <a:rPr lang="en-US" sz="34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Inheritance </a:t>
            </a:r>
          </a:p>
          <a:p>
            <a:pPr algn="l" marL="745085" indent="-372543" lvl="1">
              <a:lnSpc>
                <a:spcPts val="4831"/>
              </a:lnSpc>
              <a:buFont typeface="Arial"/>
              <a:buChar char="•"/>
            </a:pPr>
            <a:r>
              <a:rPr lang="en-US" sz="34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Virtual functions</a:t>
            </a:r>
          </a:p>
          <a:p>
            <a:pPr algn="l">
              <a:lnSpc>
                <a:spcPts val="483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true" flipV="true" rot="5400000">
            <a:off x="16371975" y="3980275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7" y="0"/>
                </a:lnTo>
                <a:lnTo>
                  <a:pt x="2611027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826686" y="3030680"/>
            <a:ext cx="4846842" cy="5535962"/>
            <a:chOff x="0" y="0"/>
            <a:chExt cx="2009327" cy="2295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09327" cy="2295012"/>
            </a:xfrm>
            <a:custGeom>
              <a:avLst/>
              <a:gdLst/>
              <a:ahLst/>
              <a:cxnLst/>
              <a:rect r="r" b="b" t="t" l="l"/>
              <a:pathLst>
                <a:path h="2295012" w="2009327">
                  <a:moveTo>
                    <a:pt x="81463" y="0"/>
                  </a:moveTo>
                  <a:lnTo>
                    <a:pt x="1927864" y="0"/>
                  </a:lnTo>
                  <a:cubicBezTo>
                    <a:pt x="1949470" y="0"/>
                    <a:pt x="1970190" y="8583"/>
                    <a:pt x="1985467" y="23860"/>
                  </a:cubicBezTo>
                  <a:cubicBezTo>
                    <a:pt x="2000745" y="39137"/>
                    <a:pt x="2009327" y="59858"/>
                    <a:pt x="2009327" y="81463"/>
                  </a:cubicBezTo>
                  <a:lnTo>
                    <a:pt x="2009327" y="2213549"/>
                  </a:lnTo>
                  <a:cubicBezTo>
                    <a:pt x="2009327" y="2258539"/>
                    <a:pt x="1972855" y="2295012"/>
                    <a:pt x="1927864" y="2295012"/>
                  </a:cubicBezTo>
                  <a:lnTo>
                    <a:pt x="81463" y="2295012"/>
                  </a:lnTo>
                  <a:cubicBezTo>
                    <a:pt x="36472" y="2295012"/>
                    <a:pt x="0" y="2258539"/>
                    <a:pt x="0" y="2213549"/>
                  </a:cubicBezTo>
                  <a:lnTo>
                    <a:pt x="0" y="81463"/>
                  </a:lnTo>
                  <a:cubicBezTo>
                    <a:pt x="0" y="36472"/>
                    <a:pt x="36472" y="0"/>
                    <a:pt x="81463" y="0"/>
                  </a:cubicBezTo>
                  <a:close/>
                </a:path>
              </a:pathLst>
            </a:custGeom>
            <a:solidFill>
              <a:srgbClr val="D1D3D4">
                <a:alpha val="84706"/>
              </a:srgbClr>
            </a:solidFill>
            <a:ln w="38100" cap="rnd">
              <a:solidFill>
                <a:srgbClr val="363D56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09327" cy="2333112"/>
            </a:xfrm>
            <a:prstGeom prst="rect">
              <a:avLst/>
            </a:prstGeom>
          </p:spPr>
          <p:txBody>
            <a:bodyPr anchor="ctr" rtlCol="false" tIns="32273" lIns="32273" bIns="32273" rIns="3227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08155" y="3362915"/>
            <a:ext cx="4327724" cy="398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19621" indent="-409810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Pure virtual</a:t>
            </a:r>
          </a:p>
          <a:p>
            <a:pPr algn="ctr" marL="819621" indent="-409810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Abstraction</a:t>
            </a:r>
          </a:p>
          <a:p>
            <a:pPr algn="ctr" marL="819621" indent="-409810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Overriding</a:t>
            </a:r>
          </a:p>
          <a:p>
            <a:pPr algn="ctr" marL="819621" indent="-409810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Vectors</a:t>
            </a:r>
          </a:p>
          <a:p>
            <a:pPr algn="ctr" marL="819621" indent="-409810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Dynamo arrays</a:t>
            </a:r>
          </a:p>
          <a:p>
            <a:pPr algn="ctr" marL="819621" indent="-409810" lvl="1">
              <a:lnSpc>
                <a:spcPts val="5314"/>
              </a:lnSpc>
              <a:buFont typeface="Arial"/>
              <a:buChar char="•"/>
            </a:pPr>
            <a:r>
              <a:rPr lang="en-US" sz="3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Pointers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1263" y="3136547"/>
            <a:ext cx="16189572" cy="299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6"/>
              </a:lnSpc>
            </a:pPr>
            <a:r>
              <a:rPr lang="en-US" b="true" sz="16604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DEMO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56807" y="-4644732"/>
            <a:ext cx="5574385" cy="10535780"/>
          </a:xfrm>
          <a:custGeom>
            <a:avLst/>
            <a:gdLst/>
            <a:ahLst/>
            <a:cxnLst/>
            <a:rect r="r" b="b" t="t" l="l"/>
            <a:pathLst>
              <a:path h="10535780" w="5574385">
                <a:moveTo>
                  <a:pt x="0" y="0"/>
                </a:moveTo>
                <a:lnTo>
                  <a:pt x="5574386" y="0"/>
                </a:lnTo>
                <a:lnTo>
                  <a:pt x="5574386" y="10535780"/>
                </a:lnTo>
                <a:lnTo>
                  <a:pt x="0" y="1053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110835" y="-263706"/>
            <a:ext cx="1856444" cy="2925628"/>
          </a:xfrm>
          <a:custGeom>
            <a:avLst/>
            <a:gdLst/>
            <a:ahLst/>
            <a:cxnLst/>
            <a:rect r="r" b="b" t="t" l="l"/>
            <a:pathLst>
              <a:path h="2925628" w="1856444">
                <a:moveTo>
                  <a:pt x="1856444" y="2925628"/>
                </a:moveTo>
                <a:lnTo>
                  <a:pt x="0" y="2925628"/>
                </a:lnTo>
                <a:lnTo>
                  <a:pt x="0" y="0"/>
                </a:lnTo>
                <a:lnTo>
                  <a:pt x="1856444" y="0"/>
                </a:lnTo>
                <a:lnTo>
                  <a:pt x="1856444" y="29256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145942" y="421819"/>
            <a:ext cx="4913746" cy="1072090"/>
          </a:xfrm>
          <a:custGeom>
            <a:avLst/>
            <a:gdLst/>
            <a:ahLst/>
            <a:cxnLst/>
            <a:rect r="r" b="b" t="t" l="l"/>
            <a:pathLst>
              <a:path h="1072090" w="4913746">
                <a:moveTo>
                  <a:pt x="4913746" y="0"/>
                </a:moveTo>
                <a:lnTo>
                  <a:pt x="0" y="0"/>
                </a:lnTo>
                <a:lnTo>
                  <a:pt x="0" y="1072090"/>
                </a:lnTo>
                <a:lnTo>
                  <a:pt x="4913746" y="1072090"/>
                </a:lnTo>
                <a:lnTo>
                  <a:pt x="491374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4278" y="8238875"/>
            <a:ext cx="1856444" cy="2925628"/>
          </a:xfrm>
          <a:custGeom>
            <a:avLst/>
            <a:gdLst/>
            <a:ahLst/>
            <a:cxnLst/>
            <a:rect r="r" b="b" t="t" l="l"/>
            <a:pathLst>
              <a:path h="2925628" w="1856444">
                <a:moveTo>
                  <a:pt x="0" y="0"/>
                </a:moveTo>
                <a:lnTo>
                  <a:pt x="1856444" y="0"/>
                </a:lnTo>
                <a:lnTo>
                  <a:pt x="1856444" y="2925628"/>
                </a:lnTo>
                <a:lnTo>
                  <a:pt x="0" y="2925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15861" y="5506247"/>
            <a:ext cx="5574385" cy="10535780"/>
          </a:xfrm>
          <a:custGeom>
            <a:avLst/>
            <a:gdLst/>
            <a:ahLst/>
            <a:cxnLst/>
            <a:rect r="r" b="b" t="t" l="l"/>
            <a:pathLst>
              <a:path h="10535780" w="5574385">
                <a:moveTo>
                  <a:pt x="0" y="0"/>
                </a:moveTo>
                <a:lnTo>
                  <a:pt x="5574386" y="0"/>
                </a:lnTo>
                <a:lnTo>
                  <a:pt x="5574386" y="10535780"/>
                </a:lnTo>
                <a:lnTo>
                  <a:pt x="0" y="1053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10729981">
            <a:off x="17288900" y="7829908"/>
            <a:ext cx="1856444" cy="2925628"/>
          </a:xfrm>
          <a:custGeom>
            <a:avLst/>
            <a:gdLst/>
            <a:ahLst/>
            <a:cxnLst/>
            <a:rect r="r" b="b" t="t" l="l"/>
            <a:pathLst>
              <a:path h="2925628" w="1856444">
                <a:moveTo>
                  <a:pt x="1856443" y="2925628"/>
                </a:moveTo>
                <a:lnTo>
                  <a:pt x="0" y="2925628"/>
                </a:lnTo>
                <a:lnTo>
                  <a:pt x="0" y="0"/>
                </a:lnTo>
                <a:lnTo>
                  <a:pt x="1856443" y="0"/>
                </a:lnTo>
                <a:lnTo>
                  <a:pt x="1856443" y="29256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1360" y="8685080"/>
            <a:ext cx="1856444" cy="2925628"/>
          </a:xfrm>
          <a:custGeom>
            <a:avLst/>
            <a:gdLst/>
            <a:ahLst/>
            <a:cxnLst/>
            <a:rect r="r" b="b" t="t" l="l"/>
            <a:pathLst>
              <a:path h="2925628" w="1856444">
                <a:moveTo>
                  <a:pt x="0" y="0"/>
                </a:moveTo>
                <a:lnTo>
                  <a:pt x="1856444" y="0"/>
                </a:lnTo>
                <a:lnTo>
                  <a:pt x="1856444" y="2925628"/>
                </a:lnTo>
                <a:lnTo>
                  <a:pt x="0" y="29256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7131" y="1056989"/>
            <a:ext cx="15293739" cy="19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4"/>
              </a:lnSpc>
            </a:pPr>
            <a:r>
              <a:rPr lang="en-US" b="true" sz="1096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FUTURE GOAL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73529" y="6724281"/>
            <a:ext cx="6007920" cy="11355175"/>
          </a:xfrm>
          <a:custGeom>
            <a:avLst/>
            <a:gdLst/>
            <a:ahLst/>
            <a:cxnLst/>
            <a:rect r="r" b="b" t="t" l="l"/>
            <a:pathLst>
              <a:path h="11355175" w="6007920">
                <a:moveTo>
                  <a:pt x="0" y="0"/>
                </a:moveTo>
                <a:lnTo>
                  <a:pt x="6007919" y="0"/>
                </a:lnTo>
                <a:lnTo>
                  <a:pt x="6007919" y="11355175"/>
                </a:lnTo>
                <a:lnTo>
                  <a:pt x="0" y="1135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736" y="6397701"/>
            <a:ext cx="4475734" cy="4903693"/>
          </a:xfrm>
          <a:custGeom>
            <a:avLst/>
            <a:gdLst/>
            <a:ahLst/>
            <a:cxnLst/>
            <a:rect r="r" b="b" t="t" l="l"/>
            <a:pathLst>
              <a:path h="4903693" w="4475734">
                <a:moveTo>
                  <a:pt x="0" y="0"/>
                </a:moveTo>
                <a:lnTo>
                  <a:pt x="4475734" y="0"/>
                </a:lnTo>
                <a:lnTo>
                  <a:pt x="4475734" y="4903692"/>
                </a:lnTo>
                <a:lnTo>
                  <a:pt x="0" y="4903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953786" y="-2753011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8" y="0"/>
                </a:lnTo>
                <a:lnTo>
                  <a:pt x="2611028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3546520" y="4613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674297" y="3036438"/>
            <a:ext cx="9533586" cy="4587952"/>
            <a:chOff x="0" y="0"/>
            <a:chExt cx="2510903" cy="1208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0903" cy="1208349"/>
            </a:xfrm>
            <a:custGeom>
              <a:avLst/>
              <a:gdLst/>
              <a:ahLst/>
              <a:cxnLst/>
              <a:rect r="r" b="b" t="t" l="l"/>
              <a:pathLst>
                <a:path h="1208349" w="2510903">
                  <a:moveTo>
                    <a:pt x="41415" y="0"/>
                  </a:moveTo>
                  <a:lnTo>
                    <a:pt x="2469488" y="0"/>
                  </a:lnTo>
                  <a:cubicBezTo>
                    <a:pt x="2492361" y="0"/>
                    <a:pt x="2510903" y="18542"/>
                    <a:pt x="2510903" y="41415"/>
                  </a:cubicBezTo>
                  <a:lnTo>
                    <a:pt x="2510903" y="1166934"/>
                  </a:lnTo>
                  <a:cubicBezTo>
                    <a:pt x="2510903" y="1189807"/>
                    <a:pt x="2492361" y="1208349"/>
                    <a:pt x="2469488" y="1208349"/>
                  </a:cubicBezTo>
                  <a:lnTo>
                    <a:pt x="41415" y="1208349"/>
                  </a:lnTo>
                  <a:cubicBezTo>
                    <a:pt x="18542" y="1208349"/>
                    <a:pt x="0" y="1189807"/>
                    <a:pt x="0" y="1166934"/>
                  </a:cubicBezTo>
                  <a:lnTo>
                    <a:pt x="0" y="41415"/>
                  </a:lnTo>
                  <a:cubicBezTo>
                    <a:pt x="0" y="18542"/>
                    <a:pt x="18542" y="0"/>
                    <a:pt x="41415" y="0"/>
                  </a:cubicBezTo>
                  <a:close/>
                </a:path>
              </a:pathLst>
            </a:custGeom>
            <a:solidFill>
              <a:srgbClr val="D1D3D4">
                <a:alpha val="84706"/>
              </a:srgbClr>
            </a:solidFill>
            <a:ln w="38100" cap="rnd">
              <a:solidFill>
                <a:srgbClr val="363D56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10903" cy="1246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45028" y="3310822"/>
            <a:ext cx="8192124" cy="395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37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future goal is to add a graphical user interface (GUI) to the software. This will provide a user-friendly interface, making it easier for users to interact with the program without any difficulty.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86722"/>
            <a:ext cx="16230600" cy="19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44"/>
              </a:lnSpc>
            </a:pPr>
            <a:r>
              <a:rPr lang="en-US" b="true" sz="1096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CONCLUSION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628900" y="7347305"/>
            <a:ext cx="5538783" cy="10468490"/>
          </a:xfrm>
          <a:custGeom>
            <a:avLst/>
            <a:gdLst/>
            <a:ahLst/>
            <a:cxnLst/>
            <a:rect r="r" b="b" t="t" l="l"/>
            <a:pathLst>
              <a:path h="10468490" w="5538783">
                <a:moveTo>
                  <a:pt x="0" y="0"/>
                </a:moveTo>
                <a:lnTo>
                  <a:pt x="5538783" y="0"/>
                </a:lnTo>
                <a:lnTo>
                  <a:pt x="5538783" y="10468490"/>
                </a:lnTo>
                <a:lnTo>
                  <a:pt x="0" y="10468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493627" y="-2057400"/>
            <a:ext cx="1934679" cy="3048922"/>
          </a:xfrm>
          <a:custGeom>
            <a:avLst/>
            <a:gdLst/>
            <a:ahLst/>
            <a:cxnLst/>
            <a:rect r="r" b="b" t="t" l="l"/>
            <a:pathLst>
              <a:path h="3048922" w="1934679">
                <a:moveTo>
                  <a:pt x="1934679" y="3048922"/>
                </a:moveTo>
                <a:lnTo>
                  <a:pt x="0" y="3048922"/>
                </a:lnTo>
                <a:lnTo>
                  <a:pt x="0" y="0"/>
                </a:lnTo>
                <a:lnTo>
                  <a:pt x="1934679" y="0"/>
                </a:lnTo>
                <a:lnTo>
                  <a:pt x="1934679" y="304892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49050" y="9205075"/>
            <a:ext cx="4020501" cy="877200"/>
          </a:xfrm>
          <a:custGeom>
            <a:avLst/>
            <a:gdLst/>
            <a:ahLst/>
            <a:cxnLst/>
            <a:rect r="r" b="b" t="t" l="l"/>
            <a:pathLst>
              <a:path h="877200" w="4020501">
                <a:moveTo>
                  <a:pt x="0" y="0"/>
                </a:moveTo>
                <a:lnTo>
                  <a:pt x="4020500" y="0"/>
                </a:lnTo>
                <a:lnTo>
                  <a:pt x="4020500" y="877201"/>
                </a:lnTo>
                <a:lnTo>
                  <a:pt x="0" y="877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51006" y="2661922"/>
            <a:ext cx="14585987" cy="6106574"/>
            <a:chOff x="0" y="0"/>
            <a:chExt cx="3841577" cy="16083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1577" cy="1608316"/>
            </a:xfrm>
            <a:custGeom>
              <a:avLst/>
              <a:gdLst/>
              <a:ahLst/>
              <a:cxnLst/>
              <a:rect r="r" b="b" t="t" l="l"/>
              <a:pathLst>
                <a:path h="1608316" w="3841577">
                  <a:moveTo>
                    <a:pt x="27070" y="0"/>
                  </a:moveTo>
                  <a:lnTo>
                    <a:pt x="3814507" y="0"/>
                  </a:lnTo>
                  <a:cubicBezTo>
                    <a:pt x="3829457" y="0"/>
                    <a:pt x="3841577" y="12120"/>
                    <a:pt x="3841577" y="27070"/>
                  </a:cubicBezTo>
                  <a:lnTo>
                    <a:pt x="3841577" y="1581246"/>
                  </a:lnTo>
                  <a:cubicBezTo>
                    <a:pt x="3841577" y="1588426"/>
                    <a:pt x="3838725" y="1595311"/>
                    <a:pt x="3833648" y="1600387"/>
                  </a:cubicBezTo>
                  <a:cubicBezTo>
                    <a:pt x="3828572" y="1605464"/>
                    <a:pt x="3821686" y="1608316"/>
                    <a:pt x="3814507" y="1608316"/>
                  </a:cubicBezTo>
                  <a:lnTo>
                    <a:pt x="27070" y="1608316"/>
                  </a:lnTo>
                  <a:cubicBezTo>
                    <a:pt x="12120" y="1608316"/>
                    <a:pt x="0" y="1596196"/>
                    <a:pt x="0" y="1581246"/>
                  </a:cubicBezTo>
                  <a:lnTo>
                    <a:pt x="0" y="27070"/>
                  </a:lnTo>
                  <a:cubicBezTo>
                    <a:pt x="0" y="19890"/>
                    <a:pt x="2852" y="13005"/>
                    <a:pt x="7929" y="7929"/>
                  </a:cubicBezTo>
                  <a:cubicBezTo>
                    <a:pt x="13005" y="2852"/>
                    <a:pt x="19890" y="0"/>
                    <a:pt x="27070" y="0"/>
                  </a:cubicBezTo>
                  <a:close/>
                </a:path>
              </a:pathLst>
            </a:custGeom>
            <a:solidFill>
              <a:srgbClr val="D1D3D4">
                <a:alpha val="84706"/>
              </a:srgbClr>
            </a:solidFill>
            <a:ln w="38100" cap="rnd">
              <a:solidFill>
                <a:srgbClr val="363D56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41577" cy="1646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03233" y="2762396"/>
            <a:ext cx="13681534" cy="585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5"/>
              </a:lnSpc>
            </a:pPr>
            <a:r>
              <a:rPr lang="en-US" sz="3759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We learned a lot from this project — not just technical skills, but valuable lessons in teamwork.</a:t>
            </a:r>
          </a:p>
          <a:p>
            <a:pPr algn="just">
              <a:lnSpc>
                <a:spcPts val="4135"/>
              </a:lnSpc>
            </a:pPr>
            <a:r>
              <a:rPr lang="en-US" sz="3759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 We understood how important it is to work together, divide tasks, and trust each other.</a:t>
            </a:r>
          </a:p>
          <a:p>
            <a:pPr algn="just">
              <a:lnSpc>
                <a:spcPts val="4135"/>
              </a:lnSpc>
            </a:pPr>
            <a:r>
              <a:rPr lang="en-US" sz="3759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 Everyone in the team gave their best and completed their part with full honesty and dedication.</a:t>
            </a:r>
          </a:p>
          <a:p>
            <a:pPr algn="just">
              <a:lnSpc>
                <a:spcPts val="4135"/>
              </a:lnSpc>
            </a:pPr>
            <a:r>
              <a:rPr lang="en-US" sz="3759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 Our programming skills improved through hands-on practice.</a:t>
            </a:r>
          </a:p>
          <a:p>
            <a:pPr algn="just">
              <a:lnSpc>
                <a:spcPts val="4135"/>
              </a:lnSpc>
            </a:pPr>
            <a:r>
              <a:rPr lang="en-US" sz="3759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 And naturally, since communication is a key part of teamwork, our communication skills also got better.</a:t>
            </a:r>
          </a:p>
          <a:p>
            <a:pPr algn="just">
              <a:lnSpc>
                <a:spcPts val="4135"/>
              </a:lnSpc>
            </a:pPr>
            <a:r>
              <a:rPr lang="en-US" sz="3759">
                <a:solidFill>
                  <a:srgbClr val="000000"/>
                </a:solidFill>
                <a:latin typeface="Old Standard"/>
                <a:ea typeface="Old Standard"/>
                <a:cs typeface="Old Standard"/>
                <a:sym typeface="Old Standard"/>
              </a:rPr>
              <a:t> This project helped us grow in many ways, both as learners and as a team.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-1207311" y="-387000"/>
            <a:ext cx="1934679" cy="3048922"/>
          </a:xfrm>
          <a:custGeom>
            <a:avLst/>
            <a:gdLst/>
            <a:ahLst/>
            <a:cxnLst/>
            <a:rect r="r" b="b" t="t" l="l"/>
            <a:pathLst>
              <a:path h="3048922" w="1934679">
                <a:moveTo>
                  <a:pt x="1934679" y="3048922"/>
                </a:moveTo>
                <a:lnTo>
                  <a:pt x="0" y="3048922"/>
                </a:lnTo>
                <a:lnTo>
                  <a:pt x="0" y="0"/>
                </a:lnTo>
                <a:lnTo>
                  <a:pt x="1934679" y="0"/>
                </a:lnTo>
                <a:lnTo>
                  <a:pt x="1934679" y="304892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402" y="2765502"/>
            <a:ext cx="17853196" cy="537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b="true" sz="1500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THANK</a:t>
            </a:r>
          </a:p>
          <a:p>
            <a:pPr algn="ctr">
              <a:lnSpc>
                <a:spcPts val="21000"/>
              </a:lnSpc>
            </a:pPr>
            <a:r>
              <a:rPr lang="en-US" b="true" sz="15000">
                <a:solidFill>
                  <a:srgbClr val="000000"/>
                </a:solidFill>
                <a:latin typeface="Blogger Bold"/>
                <a:ea typeface="Blogger Bold"/>
                <a:cs typeface="Blogger Bold"/>
                <a:sym typeface="Blogger Bold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837152" y="5143500"/>
            <a:ext cx="6844296" cy="12935956"/>
          </a:xfrm>
          <a:custGeom>
            <a:avLst/>
            <a:gdLst/>
            <a:ahLst/>
            <a:cxnLst/>
            <a:rect r="r" b="b" t="t" l="l"/>
            <a:pathLst>
              <a:path h="12935956" w="6844296">
                <a:moveTo>
                  <a:pt x="0" y="0"/>
                </a:moveTo>
                <a:lnTo>
                  <a:pt x="6844296" y="0"/>
                </a:lnTo>
                <a:lnTo>
                  <a:pt x="6844296" y="12935956"/>
                </a:lnTo>
                <a:lnTo>
                  <a:pt x="0" y="12935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3415" y="4022802"/>
            <a:ext cx="7511380" cy="8229600"/>
          </a:xfrm>
          <a:custGeom>
            <a:avLst/>
            <a:gdLst/>
            <a:ahLst/>
            <a:cxnLst/>
            <a:rect r="r" b="b" t="t" l="l"/>
            <a:pathLst>
              <a:path h="8229600" w="7511380">
                <a:moveTo>
                  <a:pt x="0" y="0"/>
                </a:moveTo>
                <a:lnTo>
                  <a:pt x="7511381" y="0"/>
                </a:lnTo>
                <a:lnTo>
                  <a:pt x="75113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837152" y="-20574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261102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611027" y="0"/>
                </a:lnTo>
                <a:lnTo>
                  <a:pt x="2611027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628900" y="230678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7315200" y="0"/>
                </a:moveTo>
                <a:lnTo>
                  <a:pt x="0" y="0"/>
                </a:lnTo>
                <a:lnTo>
                  <a:pt x="0" y="1596044"/>
                </a:lnTo>
                <a:lnTo>
                  <a:pt x="7315200" y="159604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DAGpyIvYiHM</dc:identifier>
  <dcterms:modified xsi:type="dcterms:W3CDTF">2011-08-01T06:04:30Z</dcterms:modified>
  <cp:revision>1</cp:revision>
  <dc:title>oop Project</dc:title>
</cp:coreProperties>
</file>